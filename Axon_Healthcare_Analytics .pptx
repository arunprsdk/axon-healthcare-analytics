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9A804-F5E6-4548-8F87-47CEC293CD23}" v="55" dt="2026-08-29T08:20:46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at Sayed" userId="89a8bb494411569a" providerId="LiveId" clId="{120C8986-6AD7-4FF4-BBF0-F9C16B3487B9}"/>
    <pc:docChg chg="undo custSel delSld modSld sldOrd modMainMaster">
      <pc:chgData name="Nikhat Sayed" userId="89a8bb494411569a" providerId="LiveId" clId="{120C8986-6AD7-4FF4-BBF0-F9C16B3487B9}" dt="2026-08-29T08:22:56.107" v="334" actId="20577"/>
      <pc:docMkLst>
        <pc:docMk/>
      </pc:docMkLst>
      <pc:sldChg chg="addSp delSp modSp mod modTransition">
        <pc:chgData name="Nikhat Sayed" userId="89a8bb494411569a" providerId="LiveId" clId="{120C8986-6AD7-4FF4-BBF0-F9C16B3487B9}" dt="2026-08-29T06:05:57.315" v="288"/>
        <pc:sldMkLst>
          <pc:docMk/>
          <pc:sldMk cId="0" sldId="256"/>
        </pc:sldMkLst>
        <pc:spChg chg="mod">
          <ac:chgData name="Nikhat Sayed" userId="89a8bb494411569a" providerId="LiveId" clId="{120C8986-6AD7-4FF4-BBF0-F9C16B3487B9}" dt="2026-08-28T13:54:06.587" v="69" actId="20577"/>
          <ac:spMkLst>
            <pc:docMk/>
            <pc:sldMk cId="0" sldId="256"/>
            <ac:spMk id="9" creationId="{00000000-0000-0000-0000-000000000000}"/>
          </ac:spMkLst>
        </pc:spChg>
        <pc:picChg chg="del mod">
          <ac:chgData name="Nikhat Sayed" userId="89a8bb494411569a" providerId="LiveId" clId="{120C8986-6AD7-4FF4-BBF0-F9C16B3487B9}" dt="2026-08-28T13:53:45.126" v="61" actId="478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Nikhat Sayed" userId="89a8bb494411569a" providerId="LiveId" clId="{120C8986-6AD7-4FF4-BBF0-F9C16B3487B9}" dt="2026-08-28T13:54:51.694" v="75" actId="14100"/>
          <ac:picMkLst>
            <pc:docMk/>
            <pc:sldMk cId="0" sldId="256"/>
            <ac:picMk id="11" creationId="{77CF08F2-4040-0FDF-647B-FEEAECEE5583}"/>
          </ac:picMkLst>
        </pc:picChg>
      </pc:sldChg>
      <pc:sldChg chg="delSp modSp mod modTransition">
        <pc:chgData name="Nikhat Sayed" userId="89a8bb494411569a" providerId="LiveId" clId="{120C8986-6AD7-4FF4-BBF0-F9C16B3487B9}" dt="2026-08-29T06:05:57.315" v="288"/>
        <pc:sldMkLst>
          <pc:docMk/>
          <pc:sldMk cId="0" sldId="257"/>
        </pc:sldMkLst>
        <pc:spChg chg="mod">
          <ac:chgData name="Nikhat Sayed" userId="89a8bb494411569a" providerId="LiveId" clId="{120C8986-6AD7-4FF4-BBF0-F9C16B3487B9}" dt="2026-08-28T14:26:52.019" v="97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Nikhat Sayed" userId="89a8bb494411569a" providerId="LiveId" clId="{120C8986-6AD7-4FF4-BBF0-F9C16B3487B9}" dt="2026-08-28T14:26:37.326" v="94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Nikhat Sayed" userId="89a8bb494411569a" providerId="LiveId" clId="{120C8986-6AD7-4FF4-BBF0-F9C16B3487B9}" dt="2026-08-28T14:26:41.211" v="95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Nikhat Sayed" userId="89a8bb494411569a" providerId="LiveId" clId="{120C8986-6AD7-4FF4-BBF0-F9C16B3487B9}" dt="2026-08-28T14:26:46.827" v="96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Nikhat Sayed" userId="89a8bb494411569a" providerId="LiveId" clId="{120C8986-6AD7-4FF4-BBF0-F9C16B3487B9}" dt="2026-08-28T14:26:23.927" v="91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Nikhat Sayed" userId="89a8bb494411569a" providerId="LiveId" clId="{120C8986-6AD7-4FF4-BBF0-F9C16B3487B9}" dt="2026-08-28T14:26:29.716" v="92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ikhat Sayed" userId="89a8bb494411569a" providerId="LiveId" clId="{120C8986-6AD7-4FF4-BBF0-F9C16B3487B9}" dt="2026-08-28T14:26:34.314" v="93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Nikhat Sayed" userId="89a8bb494411569a" providerId="LiveId" clId="{120C8986-6AD7-4FF4-BBF0-F9C16B3487B9}" dt="2026-08-28T14:26:10.737" v="88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Nikhat Sayed" userId="89a8bb494411569a" providerId="LiveId" clId="{120C8986-6AD7-4FF4-BBF0-F9C16B3487B9}" dt="2026-08-29T05:38:41.559" v="123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Nikhat Sayed" userId="89a8bb494411569a" providerId="LiveId" clId="{120C8986-6AD7-4FF4-BBF0-F9C16B3487B9}" dt="2026-08-28T14:26:15.809" v="89" actId="1076"/>
          <ac:spMkLst>
            <pc:docMk/>
            <pc:sldMk cId="0" sldId="257"/>
            <ac:spMk id="14" creationId="{00000000-0000-0000-0000-000000000000}"/>
          </ac:spMkLst>
        </pc:spChg>
        <pc:spChg chg="del">
          <ac:chgData name="Nikhat Sayed" userId="89a8bb494411569a" providerId="LiveId" clId="{120C8986-6AD7-4FF4-BBF0-F9C16B3487B9}" dt="2026-08-28T14:26:00.817" v="84" actId="478"/>
          <ac:spMkLst>
            <pc:docMk/>
            <pc:sldMk cId="0" sldId="257"/>
            <ac:spMk id="15" creationId="{00000000-0000-0000-0000-000000000000}"/>
          </ac:spMkLst>
        </pc:spChg>
        <pc:spChg chg="del mod">
          <ac:chgData name="Nikhat Sayed" userId="89a8bb494411569a" providerId="LiveId" clId="{120C8986-6AD7-4FF4-BBF0-F9C16B3487B9}" dt="2026-08-28T14:26:05.328" v="86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Nikhat Sayed" userId="89a8bb494411569a" providerId="LiveId" clId="{120C8986-6AD7-4FF4-BBF0-F9C16B3487B9}" dt="2026-08-28T14:26:08.475" v="87" actId="478"/>
          <ac:spMkLst>
            <pc:docMk/>
            <pc:sldMk cId="0" sldId="257"/>
            <ac:spMk id="17" creationId="{00000000-0000-0000-0000-000000000000}"/>
          </ac:spMkLst>
        </pc:spChg>
      </pc:sldChg>
      <pc:sldChg chg="delSp mod modTransition">
        <pc:chgData name="Nikhat Sayed" userId="89a8bb494411569a" providerId="LiveId" clId="{120C8986-6AD7-4FF4-BBF0-F9C16B3487B9}" dt="2026-08-29T06:05:57.315" v="288"/>
        <pc:sldMkLst>
          <pc:docMk/>
          <pc:sldMk cId="0" sldId="258"/>
        </pc:sldMkLst>
        <pc:spChg chg="del">
          <ac:chgData name="Nikhat Sayed" userId="89a8bb494411569a" providerId="LiveId" clId="{120C8986-6AD7-4FF4-BBF0-F9C16B3487B9}" dt="2026-08-29T05:39:07.564" v="124" actId="478"/>
          <ac:spMkLst>
            <pc:docMk/>
            <pc:sldMk cId="0" sldId="258"/>
            <ac:spMk id="27" creationId="{00000000-0000-0000-0000-000000000000}"/>
          </ac:spMkLst>
        </pc:spChg>
      </pc:sldChg>
      <pc:sldChg chg="addSp delSp modSp mod modTransition">
        <pc:chgData name="Nikhat Sayed" userId="89a8bb494411569a" providerId="LiveId" clId="{120C8986-6AD7-4FF4-BBF0-F9C16B3487B9}" dt="2026-08-29T08:22:31.852" v="325" actId="20577"/>
        <pc:sldMkLst>
          <pc:docMk/>
          <pc:sldMk cId="0" sldId="259"/>
        </pc:sldMkLst>
        <pc:spChg chg="mod">
          <ac:chgData name="Nikhat Sayed" userId="89a8bb494411569a" providerId="LiveId" clId="{120C8986-6AD7-4FF4-BBF0-F9C16B3487B9}" dt="2026-08-29T05:39:53.574" v="13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Nikhat Sayed" userId="89a8bb494411569a" providerId="LiveId" clId="{120C8986-6AD7-4FF4-BBF0-F9C16B3487B9}" dt="2026-08-29T05:40:01.273" v="141" actId="20577"/>
          <ac:spMkLst>
            <pc:docMk/>
            <pc:sldMk cId="0" sldId="259"/>
            <ac:spMk id="7" creationId="{00000000-0000-0000-0000-000000000000}"/>
          </ac:spMkLst>
        </pc:spChg>
        <pc:spChg chg="add del mod">
          <ac:chgData name="Nikhat Sayed" userId="89a8bb494411569a" providerId="LiveId" clId="{120C8986-6AD7-4FF4-BBF0-F9C16B3487B9}" dt="2026-08-29T08:22:31.852" v="325" actId="20577"/>
          <ac:spMkLst>
            <pc:docMk/>
            <pc:sldMk cId="0" sldId="259"/>
            <ac:spMk id="11" creationId="{00000000-0000-0000-0000-000000000000}"/>
          </ac:spMkLst>
        </pc:spChg>
        <pc:spChg chg="add mod">
          <ac:chgData name="Nikhat Sayed" userId="89a8bb494411569a" providerId="LiveId" clId="{120C8986-6AD7-4FF4-BBF0-F9C16B3487B9}" dt="2026-08-29T08:20:46.322" v="306" actId="767"/>
          <ac:spMkLst>
            <pc:docMk/>
            <pc:sldMk cId="0" sldId="259"/>
            <ac:spMk id="12" creationId="{A384F03B-3512-A6AE-B93E-D0300A28B02C}"/>
          </ac:spMkLst>
        </pc:spChg>
        <pc:picChg chg="mod">
          <ac:chgData name="Nikhat Sayed" userId="89a8bb494411569a" providerId="LiveId" clId="{120C8986-6AD7-4FF4-BBF0-F9C16B3487B9}" dt="2026-08-29T05:41:53.827" v="192" actId="14100"/>
          <ac:picMkLst>
            <pc:docMk/>
            <pc:sldMk cId="0" sldId="259"/>
            <ac:picMk id="6" creationId="{00000000-0000-0000-0000-000000000000}"/>
          </ac:picMkLst>
        </pc:picChg>
      </pc:sldChg>
      <pc:sldChg chg="modSp mod modTransition">
        <pc:chgData name="Nikhat Sayed" userId="89a8bb494411569a" providerId="LiveId" clId="{120C8986-6AD7-4FF4-BBF0-F9C16B3487B9}" dt="2026-08-29T08:22:36.363" v="327" actId="20577"/>
        <pc:sldMkLst>
          <pc:docMk/>
          <pc:sldMk cId="0" sldId="260"/>
        </pc:sldMkLst>
        <pc:spChg chg="mod">
          <ac:chgData name="Nikhat Sayed" userId="89a8bb494411569a" providerId="LiveId" clId="{120C8986-6AD7-4FF4-BBF0-F9C16B3487B9}" dt="2026-08-29T05:40:13.802" v="151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Nikhat Sayed" userId="89a8bb494411569a" providerId="LiveId" clId="{120C8986-6AD7-4FF4-BBF0-F9C16B3487B9}" dt="2026-08-29T05:40:24.817" v="163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Nikhat Sayed" userId="89a8bb494411569a" providerId="LiveId" clId="{120C8986-6AD7-4FF4-BBF0-F9C16B3487B9}" dt="2026-08-29T08:22:36.363" v="327" actId="20577"/>
          <ac:spMkLst>
            <pc:docMk/>
            <pc:sldMk cId="0" sldId="260"/>
            <ac:spMk id="11" creationId="{00000000-0000-0000-0000-000000000000}"/>
          </ac:spMkLst>
        </pc:spChg>
        <pc:picChg chg="mod">
          <ac:chgData name="Nikhat Sayed" userId="89a8bb494411569a" providerId="LiveId" clId="{120C8986-6AD7-4FF4-BBF0-F9C16B3487B9}" dt="2026-08-29T05:42:17.722" v="196" actId="14100"/>
          <ac:picMkLst>
            <pc:docMk/>
            <pc:sldMk cId="0" sldId="260"/>
            <ac:picMk id="6" creationId="{00000000-0000-0000-0000-000000000000}"/>
          </ac:picMkLst>
        </pc:picChg>
      </pc:sldChg>
      <pc:sldChg chg="del">
        <pc:chgData name="Nikhat Sayed" userId="89a8bb494411569a" providerId="LiveId" clId="{120C8986-6AD7-4FF4-BBF0-F9C16B3487B9}" dt="2026-08-29T05:40:42.374" v="164" actId="47"/>
        <pc:sldMkLst>
          <pc:docMk/>
          <pc:sldMk cId="0" sldId="261"/>
        </pc:sldMkLst>
      </pc:sldChg>
      <pc:sldChg chg="modSp mod ord modTransition">
        <pc:chgData name="Nikhat Sayed" userId="89a8bb494411569a" providerId="LiveId" clId="{120C8986-6AD7-4FF4-BBF0-F9C16B3487B9}" dt="2026-08-29T08:19:11.167" v="293" actId="20577"/>
        <pc:sldMkLst>
          <pc:docMk/>
          <pc:sldMk cId="0" sldId="262"/>
        </pc:sldMkLst>
        <pc:spChg chg="mod">
          <ac:chgData name="Nikhat Sayed" userId="89a8bb494411569a" providerId="LiveId" clId="{120C8986-6AD7-4FF4-BBF0-F9C16B3487B9}" dt="2026-08-29T05:40:52.001" v="172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Nikhat Sayed" userId="89a8bb494411569a" providerId="LiveId" clId="{120C8986-6AD7-4FF4-BBF0-F9C16B3487B9}" dt="2026-08-29T08:19:11.167" v="293" actId="20577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 ord modTransition">
        <pc:chgData name="Nikhat Sayed" userId="89a8bb494411569a" providerId="LiveId" clId="{120C8986-6AD7-4FF4-BBF0-F9C16B3487B9}" dt="2026-08-29T08:20:53.263" v="311" actId="47"/>
        <pc:sldMkLst>
          <pc:docMk/>
          <pc:sldMk cId="0" sldId="263"/>
        </pc:sldMkLst>
        <pc:spChg chg="mod">
          <ac:chgData name="Nikhat Sayed" userId="89a8bb494411569a" providerId="LiveId" clId="{120C8986-6AD7-4FF4-BBF0-F9C16B3487B9}" dt="2026-08-29T05:41:18.225" v="186" actId="20577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Nikhat Sayed" userId="89a8bb494411569a" providerId="LiveId" clId="{120C8986-6AD7-4FF4-BBF0-F9C16B3487B9}" dt="2026-08-29T08:20:53.263" v="311" actId="47"/>
          <ac:spMkLst>
            <pc:docMk/>
            <pc:sldMk cId="0" sldId="263"/>
            <ac:spMk id="8" creationId="{00000000-0000-0000-0000-000000000000}"/>
          </ac:spMkLst>
        </pc:spChg>
      </pc:sldChg>
      <pc:sldChg chg="modSp mod modTransition">
        <pc:chgData name="Nikhat Sayed" userId="89a8bb494411569a" providerId="LiveId" clId="{120C8986-6AD7-4FF4-BBF0-F9C16B3487B9}" dt="2026-08-29T08:22:44.758" v="329" actId="20577"/>
        <pc:sldMkLst>
          <pc:docMk/>
          <pc:sldMk cId="0" sldId="264"/>
        </pc:sldMkLst>
        <pc:spChg chg="mod">
          <ac:chgData name="Nikhat Sayed" userId="89a8bb494411569a" providerId="LiveId" clId="{120C8986-6AD7-4FF4-BBF0-F9C16B3487B9}" dt="2026-08-29T05:43:28.305" v="236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Nikhat Sayed" userId="89a8bb494411569a" providerId="LiveId" clId="{120C8986-6AD7-4FF4-BBF0-F9C16B3487B9}" dt="2026-08-29T05:43:52.030" v="237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Nikhat Sayed" userId="89a8bb494411569a" providerId="LiveId" clId="{120C8986-6AD7-4FF4-BBF0-F9C16B3487B9}" dt="2026-08-29T08:22:44.758" v="329" actId="20577"/>
          <ac:spMkLst>
            <pc:docMk/>
            <pc:sldMk cId="0" sldId="264"/>
            <ac:spMk id="16" creationId="{00000000-0000-0000-0000-000000000000}"/>
          </ac:spMkLst>
        </pc:spChg>
      </pc:sldChg>
      <pc:sldChg chg="modSp mod modTransition">
        <pc:chgData name="Nikhat Sayed" userId="89a8bb494411569a" providerId="LiveId" clId="{120C8986-6AD7-4FF4-BBF0-F9C16B3487B9}" dt="2026-08-29T08:22:50.160" v="331" actId="20577"/>
        <pc:sldMkLst>
          <pc:docMk/>
          <pc:sldMk cId="0" sldId="265"/>
        </pc:sldMkLst>
        <pc:spChg chg="mod">
          <ac:chgData name="Nikhat Sayed" userId="89a8bb494411569a" providerId="LiveId" clId="{120C8986-6AD7-4FF4-BBF0-F9C16B3487B9}" dt="2026-08-29T05:43:19.052" v="234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Nikhat Sayed" userId="89a8bb494411569a" providerId="LiveId" clId="{120C8986-6AD7-4FF4-BBF0-F9C16B3487B9}" dt="2026-08-29T08:22:50.160" v="331" actId="20577"/>
          <ac:spMkLst>
            <pc:docMk/>
            <pc:sldMk cId="0" sldId="265"/>
            <ac:spMk id="12" creationId="{00000000-0000-0000-0000-000000000000}"/>
          </ac:spMkLst>
        </pc:spChg>
      </pc:sldChg>
      <pc:sldChg chg="modSp mod modTransition">
        <pc:chgData name="Nikhat Sayed" userId="89a8bb494411569a" providerId="LiveId" clId="{120C8986-6AD7-4FF4-BBF0-F9C16B3487B9}" dt="2026-08-29T08:22:56.107" v="334" actId="20577"/>
        <pc:sldMkLst>
          <pc:docMk/>
          <pc:sldMk cId="0" sldId="266"/>
        </pc:sldMkLst>
        <pc:spChg chg="mod">
          <ac:chgData name="Nikhat Sayed" userId="89a8bb494411569a" providerId="LiveId" clId="{120C8986-6AD7-4FF4-BBF0-F9C16B3487B9}" dt="2026-08-28T13:52:58.204" v="60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Nikhat Sayed" userId="89a8bb494411569a" providerId="LiveId" clId="{120C8986-6AD7-4FF4-BBF0-F9C16B3487B9}" dt="2026-08-29T08:22:56.107" v="334" actId="20577"/>
          <ac:spMkLst>
            <pc:docMk/>
            <pc:sldMk cId="0" sldId="266"/>
            <ac:spMk id="12" creationId="{00000000-0000-0000-0000-000000000000}"/>
          </ac:spMkLst>
        </pc:spChg>
      </pc:sldChg>
      <pc:sldChg chg="addSp delSp modSp mod modTransition">
        <pc:chgData name="Nikhat Sayed" userId="89a8bb494411569a" providerId="LiveId" clId="{120C8986-6AD7-4FF4-BBF0-F9C16B3487B9}" dt="2026-08-29T06:05:57.315" v="288"/>
        <pc:sldMkLst>
          <pc:docMk/>
          <pc:sldMk cId="0" sldId="267"/>
        </pc:sldMkLst>
        <pc:spChg chg="mod">
          <ac:chgData name="Nikhat Sayed" userId="89a8bb494411569a" providerId="LiveId" clId="{120C8986-6AD7-4FF4-BBF0-F9C16B3487B9}" dt="2026-08-29T05:43:02.863" v="230" actId="14100"/>
          <ac:spMkLst>
            <pc:docMk/>
            <pc:sldMk cId="0" sldId="267"/>
            <ac:spMk id="7" creationId="{00000000-0000-0000-0000-000000000000}"/>
          </ac:spMkLst>
        </pc:spChg>
        <pc:spChg chg="mod">
          <ac:chgData name="Nikhat Sayed" userId="89a8bb494411569a" providerId="LiveId" clId="{120C8986-6AD7-4FF4-BBF0-F9C16B3487B9}" dt="2026-08-29T05:43:09.359" v="232" actId="20577"/>
          <ac:spMkLst>
            <pc:docMk/>
            <pc:sldMk cId="0" sldId="267"/>
            <ac:spMk id="8" creationId="{00000000-0000-0000-0000-000000000000}"/>
          </ac:spMkLst>
        </pc:spChg>
        <pc:picChg chg="add del mod">
          <ac:chgData name="Nikhat Sayed" userId="89a8bb494411569a" providerId="LiveId" clId="{120C8986-6AD7-4FF4-BBF0-F9C16B3487B9}" dt="2026-08-28T13:56:41.556" v="83" actId="14100"/>
          <ac:picMkLst>
            <pc:docMk/>
            <pc:sldMk cId="0" sldId="267"/>
            <ac:picMk id="10" creationId="{DD873C9E-C701-C9F0-6BE0-43B3844680F2}"/>
          </ac:picMkLst>
        </pc:picChg>
      </pc:sldChg>
      <pc:sldMasterChg chg="modTransition modSldLayout">
        <pc:chgData name="Nikhat Sayed" userId="89a8bb494411569a" providerId="LiveId" clId="{120C8986-6AD7-4FF4-BBF0-F9C16B3487B9}" dt="2026-08-29T06:05:57.315" v="288"/>
        <pc:sldMasterMkLst>
          <pc:docMk/>
          <pc:sldMasterMk cId="2209977519" sldId="2147483648"/>
        </pc:sldMasterMkLst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3168075583" sldId="2147483649"/>
          </pc:sldLayoutMkLst>
        </pc:sldLayoutChg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1840726560" sldId="2147483656"/>
          </pc:sldLayoutMkLst>
        </pc:sldLayoutChg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3889236939" sldId="2147483657"/>
          </pc:sldLayoutMkLst>
        </pc:sldLayoutChg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Transition">
          <pc:chgData name="Nikhat Sayed" userId="89a8bb494411569a" providerId="LiveId" clId="{120C8986-6AD7-4FF4-BBF0-F9C16B3487B9}" dt="2026-08-29T06:05:57.315" v="288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DFD4F-F501-4C07-A123-61173197E7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467F6-27D1-4017-98B6-B7D952852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345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467F6-27D1-4017-98B6-B7D952852DF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59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ayed.samreen16@gmail.com" TargetMode="External"/><Relationship Id="rId2" Type="http://schemas.openxmlformats.org/officeDocument/2006/relationships/hyperlink" Target="mailto:arun14899k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karthikhamilpurkar@gmail.co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>
                <a:solidFill>
                  <a:srgbClr val="347EBE"/>
                </a:solidFill>
                <a:latin typeface="Aptos"/>
              </a:rPr>
              <a:t>AXON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5C6876"/>
                </a:solidFill>
                <a:latin typeface="Aptos"/>
              </a:rPr>
              <a:t>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47548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dirty="0">
                <a:solidFill>
                  <a:srgbClr val="1F4C85"/>
                </a:solidFill>
                <a:latin typeface="Aptos"/>
              </a:rPr>
              <a:t>HEALTHCARE
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182112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dirty="0">
                <a:solidFill>
                  <a:srgbClr val="2F8157"/>
                </a:solidFill>
                <a:latin typeface="Aptos"/>
              </a:rPr>
              <a:t>Integrated Dashboard &amp; SQL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675887"/>
            <a:ext cx="4754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232A34"/>
                </a:solidFill>
                <a:latin typeface="Aptos"/>
              </a:rPr>
              <a:t>Clinical Visits  •  Diagnostics  •  Treatment  •  Insurance  •  Patient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80760"/>
            <a:ext cx="12191999" cy="777240"/>
          </a:xfrm>
          <a:prstGeom prst="rect">
            <a:avLst/>
          </a:prstGeom>
          <a:solidFill>
            <a:srgbClr val="1F4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6151233"/>
            <a:ext cx="64008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Excel   |   Tableau   |   Power BI   |   SQL</a:t>
            </a:r>
            <a:endParaRPr lang="en-IN" sz="15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IN" sz="1500" b="1" dirty="0">
                <a:solidFill>
                  <a:srgbClr val="FFFFFF"/>
                </a:solidFill>
                <a:latin typeface="Aptos"/>
              </a:rPr>
              <a:t>GROUP 3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CF08F2-4040-0FDF-647B-FEEAECEE5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040" y="0"/>
            <a:ext cx="5648960" cy="6080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F4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PROJECT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FFFFFF"/>
                </a:solidFill>
                <a:latin typeface="Aptos"/>
              </a:rPr>
              <a:t>Group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7582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1F4C85"/>
                </a:solidFill>
                <a:latin typeface="Aptos"/>
              </a:rPr>
              <a:t>Prepared By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71116"/>
            <a:ext cx="10835640" cy="795528"/>
          </a:xfrm>
          <a:prstGeom prst="roundRect">
            <a:avLst/>
          </a:prstGeom>
          <a:solidFill>
            <a:srgbClr val="EBF5FC"/>
          </a:solidFill>
          <a:ln>
            <a:solidFill>
              <a:srgbClr val="34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2311146"/>
            <a:ext cx="4663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rgbClr val="232A34"/>
                </a:solidFill>
                <a:latin typeface="Aptos"/>
              </a:rPr>
              <a:t>Arunprasad Rajesh Kounder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2280" y="2283714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347EBE"/>
                </a:solidFill>
                <a:latin typeface="Aptos"/>
                <a:hlinkClick r:id="rId2"/>
              </a:rPr>
              <a:t>arun14899k@gmail.com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27248"/>
            <a:ext cx="10835640" cy="795528"/>
          </a:xfrm>
          <a:prstGeom prst="roundRect">
            <a:avLst/>
          </a:prstGeom>
          <a:solidFill>
            <a:srgbClr val="E8F7ED"/>
          </a:solidFill>
          <a:ln>
            <a:solidFill>
              <a:srgbClr val="34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78840" y="3387852"/>
            <a:ext cx="4663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rgbClr val="232A34"/>
                </a:solidFill>
                <a:latin typeface="Aptos"/>
              </a:rPr>
              <a:t>Samreen Sayed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42900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347EBE"/>
                </a:solidFill>
                <a:latin typeface="Aptos"/>
                <a:hlinkClick r:id="rId3"/>
              </a:rPr>
              <a:t>sayed.samreen16@gmail.com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01668"/>
            <a:ext cx="10835640" cy="795528"/>
          </a:xfrm>
          <a:prstGeom prst="roundRect">
            <a:avLst/>
          </a:prstGeom>
          <a:solidFill>
            <a:srgbClr val="EBF5FC"/>
          </a:solidFill>
          <a:ln>
            <a:solidFill>
              <a:srgbClr val="34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60120" y="4462593"/>
            <a:ext cx="466344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rgbClr val="232A34"/>
                </a:solidFill>
                <a:latin typeface="Aptos"/>
              </a:rPr>
              <a:t>K</a:t>
            </a:r>
            <a:r>
              <a:rPr lang="en-IN" sz="1700" b="1" dirty="0">
                <a:solidFill>
                  <a:srgbClr val="232A34"/>
                </a:solidFill>
                <a:latin typeface="Aptos"/>
              </a:rPr>
              <a:t>arthik Hamilpurkar</a:t>
            </a:r>
            <a:endParaRPr sz="1700" b="1" dirty="0">
              <a:solidFill>
                <a:srgbClr val="232A3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23560" y="4496562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347EBE"/>
                </a:solidFill>
                <a:latin typeface="Aptos"/>
                <a:hlinkClick r:id="rId4"/>
              </a:rPr>
              <a:t>karthikhamilpurkar@gmail.com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1F4C85"/>
                </a:solidFill>
                <a:latin typeface="Aptos"/>
              </a:rPr>
              <a:t>Project focus: build an integrated healthcare reporting solution using dashboards and SQL.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C6876"/>
                </a:solidFill>
                <a:latin typeface="Aptos"/>
              </a:rPr>
              <a:t>AXON HEALTHCARE  |  Healthcare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dirty="0">
                <a:solidFill>
                  <a:srgbClr val="5C687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F4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PROJECT OVERVIEW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FFFFFF"/>
                </a:solidFill>
                <a:latin typeface="Aptos"/>
              </a:rPr>
              <a:t>What the project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1F4C85"/>
                </a:solidFill>
                <a:latin typeface="Apto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949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232A34"/>
                </a:solidFill>
                <a:latin typeface="Aptos"/>
              </a:rPr>
              <a:t>Create a unified analytical view of patient activity, clinical visits, diagnostic testing, treatment outcomes, insurance and financial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1F4C85"/>
                </a:solidFill>
                <a:latin typeface="Aptos"/>
              </a:rPr>
              <a:t>Analytics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303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rPr sz="1600" dirty="0"/>
              <a:t>• Excel — dashboard-oriented analysis and presentation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rPr sz="1600" dirty="0"/>
              <a:t>• Tableau — visual exploration of treatment and insurance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rPr sz="1600" dirty="0"/>
              <a:t>• Power BI — clinical, executive and patient analytics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rPr sz="1600" dirty="0"/>
              <a:t>• SQL — relational data model, validation and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51560"/>
            <a:ext cx="2057400" cy="1005840"/>
          </a:xfrm>
          <a:prstGeom prst="roundRect">
            <a:avLst/>
          </a:prstGeom>
          <a:solidFill>
            <a:srgbClr val="EBF5FC"/>
          </a:solidFill>
          <a:ln>
            <a:solidFill>
              <a:srgbClr val="34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510528" y="1161288"/>
            <a:ext cx="1837943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1F4C85"/>
                </a:solidFill>
                <a:latin typeface="Aptos"/>
              </a:rPr>
              <a:t>Total 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444751"/>
            <a:ext cx="1837943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232A34"/>
                </a:solidFill>
                <a:latin typeface="Aptos"/>
              </a:rPr>
              <a:t>10,000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051560"/>
            <a:ext cx="2057400" cy="1005840"/>
          </a:xfrm>
          <a:prstGeom prst="roundRect">
            <a:avLst/>
          </a:prstGeom>
          <a:solidFill>
            <a:srgbClr val="EBF5FC"/>
          </a:solidFill>
          <a:ln>
            <a:solidFill>
              <a:srgbClr val="34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750807" y="1161288"/>
            <a:ext cx="1837943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1F4C85"/>
                </a:solidFill>
                <a:latin typeface="Aptos"/>
              </a:rPr>
              <a:t>Total 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7" y="1444751"/>
            <a:ext cx="1837943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232A34"/>
                </a:solidFill>
                <a:latin typeface="Aptos"/>
              </a:rPr>
              <a:t>10,000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331720"/>
            <a:ext cx="2057400" cy="1005840"/>
          </a:xfrm>
          <a:prstGeom prst="roundRect">
            <a:avLst/>
          </a:prstGeom>
          <a:solidFill>
            <a:srgbClr val="EBF5FC"/>
          </a:solidFill>
          <a:ln>
            <a:solidFill>
              <a:srgbClr val="34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510528" y="2441448"/>
            <a:ext cx="1837943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1F4C85"/>
                </a:solidFill>
                <a:latin typeface="Aptos"/>
              </a:rPr>
              <a:t>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724912"/>
            <a:ext cx="1837943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232A34"/>
                </a:solidFill>
                <a:latin typeface="Aptos"/>
              </a:rPr>
              <a:t>$25.41M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2331720"/>
            <a:ext cx="2057400" cy="1005840"/>
          </a:xfrm>
          <a:prstGeom prst="roundRect">
            <a:avLst/>
          </a:prstGeom>
          <a:solidFill>
            <a:srgbClr val="EBF5FC"/>
          </a:solidFill>
          <a:ln>
            <a:solidFill>
              <a:srgbClr val="34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750807" y="2441448"/>
            <a:ext cx="1837943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1F4C85"/>
                </a:solidFill>
                <a:latin typeface="Aptos"/>
              </a:rPr>
              <a:t>Chronic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7" y="2724912"/>
            <a:ext cx="1837943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232A34"/>
                </a:solidFill>
                <a:latin typeface="Aptos"/>
              </a:rPr>
              <a:t>80.35%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11880"/>
            <a:ext cx="2057400" cy="1005840"/>
          </a:xfrm>
          <a:prstGeom prst="roundRect">
            <a:avLst/>
          </a:prstGeom>
          <a:solidFill>
            <a:srgbClr val="EBF5FC"/>
          </a:solidFill>
          <a:ln>
            <a:solidFill>
              <a:srgbClr val="34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510528" y="3721608"/>
            <a:ext cx="1837943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1F4C85"/>
                </a:solidFill>
                <a:latin typeface="Aptos"/>
              </a:rPr>
              <a:t>Average 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005072"/>
            <a:ext cx="1837943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232A34"/>
                </a:solidFill>
                <a:latin typeface="Aptos"/>
              </a:rPr>
              <a:t>48.94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3611880"/>
            <a:ext cx="2057400" cy="1005840"/>
          </a:xfrm>
          <a:prstGeom prst="roundRect">
            <a:avLst/>
          </a:prstGeom>
          <a:solidFill>
            <a:srgbClr val="E8F7ED"/>
          </a:solidFill>
          <a:ln>
            <a:solidFill>
              <a:srgbClr val="34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750807" y="3721608"/>
            <a:ext cx="1837943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1F4C85"/>
                </a:solidFill>
                <a:latin typeface="Aptos"/>
              </a:rPr>
              <a:t>Treatment Success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7" y="4005072"/>
            <a:ext cx="1837943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232A34"/>
                </a:solidFill>
                <a:latin typeface="Aptos"/>
              </a:rPr>
              <a:t>33.01%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28816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C6876"/>
                </a:solidFill>
                <a:latin typeface="Aptos"/>
              </a:rPr>
              <a:t>AXON HEALTHCARE  |  Healthcare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dirty="0">
                <a:solidFill>
                  <a:srgbClr val="5C687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F4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17505"/>
            <a:ext cx="107899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2500" b="1" dirty="0">
                <a:solidFill>
                  <a:srgbClr val="FFFFFF"/>
                </a:solidFill>
                <a:latin typeface="Aptos"/>
              </a:rPr>
              <a:t>EXCEL </a:t>
            </a:r>
            <a:r>
              <a:rPr sz="2500" b="1" dirty="0">
                <a:solidFill>
                  <a:srgbClr val="FFFFFF"/>
                </a:solidFill>
                <a:latin typeface="Aptos"/>
              </a:rPr>
              <a:t>DASHBOARD — EXECUTIVE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FFFFFF"/>
                </a:solidFill>
                <a:latin typeface="Aptos"/>
              </a:rPr>
              <a:t>Management-level view of healthcare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" y="877824"/>
            <a:ext cx="11045952" cy="5899708"/>
          </a:xfrm>
          <a:prstGeom prst="roundRect">
            <a:avLst/>
          </a:prstGeom>
          <a:solidFill>
            <a:srgbClr val="FFFFFF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877824"/>
            <a:ext cx="11533632" cy="58631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28816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C6876"/>
                </a:solidFill>
                <a:latin typeface="Aptos"/>
              </a:rPr>
              <a:t>AXON HEALTHCARE  |  Healthcare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86552"/>
            <a:ext cx="4572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dirty="0">
                <a:solidFill>
                  <a:schemeClr val="bg1">
                    <a:lumMod val="75000"/>
                  </a:schemeClr>
                </a:solidFill>
                <a:latin typeface="Aptos"/>
              </a:rPr>
              <a:t>4</a:t>
            </a:r>
            <a:endParaRPr sz="900" b="0" dirty="0">
              <a:solidFill>
                <a:schemeClr val="bg1">
                  <a:lumMod val="75000"/>
                </a:schemeClr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F4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17505"/>
            <a:ext cx="107899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2500" b="1" dirty="0">
                <a:solidFill>
                  <a:srgbClr val="FFFFFF"/>
                </a:solidFill>
                <a:latin typeface="Aptos"/>
              </a:rPr>
              <a:t>TABLEAU </a:t>
            </a:r>
            <a:r>
              <a:rPr sz="2500" b="1" dirty="0">
                <a:solidFill>
                  <a:srgbClr val="FFFFFF"/>
                </a:solidFill>
                <a:latin typeface="Aptos"/>
              </a:rPr>
              <a:t>DASHBOARD — PATIENT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FFFFFF"/>
                </a:solidFill>
                <a:latin typeface="Aptos"/>
              </a:rPr>
              <a:t>Demographics, chronic conditions and registrations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" y="877824"/>
            <a:ext cx="11045952" cy="5910681"/>
          </a:xfrm>
          <a:prstGeom prst="roundRect">
            <a:avLst/>
          </a:prstGeom>
          <a:solidFill>
            <a:srgbClr val="FFFFFF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11689080" cy="58375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28816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C6876"/>
                </a:solidFill>
                <a:latin typeface="Aptos"/>
              </a:rPr>
              <a:t>AXON HEALTHCARE  |  Healthcare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86552"/>
            <a:ext cx="4572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endParaRPr sz="900" b="0" dirty="0">
              <a:solidFill>
                <a:schemeClr val="bg1">
                  <a:lumMod val="75000"/>
                </a:schemeClr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F4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17505"/>
            <a:ext cx="107899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2500" b="1" dirty="0">
                <a:solidFill>
                  <a:srgbClr val="FFFFFF"/>
                </a:solidFill>
                <a:latin typeface="Aptos"/>
              </a:rPr>
              <a:t>POWER BI</a:t>
            </a:r>
            <a:r>
              <a:rPr sz="2500" b="1" dirty="0">
                <a:solidFill>
                  <a:srgbClr val="FFFFFF"/>
                </a:solidFill>
                <a:latin typeface="Aptos"/>
              </a:rPr>
              <a:t>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FFFFFF"/>
                </a:solidFill>
                <a:latin typeface="Aptos"/>
              </a:rPr>
              <a:t>Clinical Visit &amp; Diagnostic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" y="877824"/>
            <a:ext cx="8531352" cy="4823763"/>
          </a:xfrm>
          <a:prstGeom prst="roundRect">
            <a:avLst/>
          </a:prstGeom>
          <a:solidFill>
            <a:srgbClr val="FFFFFF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 (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868454"/>
            <a:ext cx="8803640" cy="54612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52560" y="868454"/>
            <a:ext cx="246888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1900" b="1" dirty="0">
                <a:solidFill>
                  <a:srgbClr val="1F4C85"/>
                </a:solidFill>
                <a:latin typeface="Aptos"/>
              </a:rPr>
              <a:t>Power BI </a:t>
            </a:r>
            <a:r>
              <a:rPr sz="1900" b="1" dirty="0">
                <a:solidFill>
                  <a:srgbClr val="1F4C85"/>
                </a:solidFill>
                <a:latin typeface="Aptos"/>
              </a:rPr>
              <a:t>dashboard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536192"/>
            <a:ext cx="2468880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10.0K total visits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32.66% completion rate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49.84% follow-up rate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33.54% abnormal test rate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33.44% pending test rate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CT Scan is the largest displayed lab-test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4800600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347EBE"/>
                </a:solidFill>
                <a:latin typeface="Aptos"/>
              </a:rPr>
              <a:t>Interactive filters include gender, test type, diagnosis and date range.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28816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C6876"/>
                </a:solidFill>
                <a:latin typeface="Aptos"/>
              </a:rPr>
              <a:t>AXON HEALTHCARE  |  Healthcare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86552"/>
            <a:ext cx="4572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dirty="0">
                <a:solidFill>
                  <a:srgbClr val="5C6876"/>
                </a:solidFill>
                <a:latin typeface="Aptos"/>
              </a:rPr>
              <a:t>6</a:t>
            </a:r>
            <a:endParaRPr sz="900" b="0" dirty="0">
              <a:solidFill>
                <a:srgbClr val="5C687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F4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17505"/>
            <a:ext cx="107899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2500" b="1" dirty="0">
                <a:solidFill>
                  <a:srgbClr val="FFFFFF"/>
                </a:solidFill>
                <a:latin typeface="Aptos"/>
              </a:rPr>
              <a:t>POWER BI</a:t>
            </a:r>
            <a:r>
              <a:rPr sz="2500" b="1" dirty="0">
                <a:solidFill>
                  <a:srgbClr val="FFFFFF"/>
                </a:solidFill>
                <a:latin typeface="Aptos"/>
              </a:rPr>
              <a:t>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FFFFFF"/>
                </a:solidFill>
                <a:latin typeface="Aptos"/>
              </a:rPr>
              <a:t>Treatment &amp; Insurance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" y="877824"/>
            <a:ext cx="8531352" cy="4839347"/>
          </a:xfrm>
          <a:prstGeom prst="roundRect">
            <a:avLst/>
          </a:prstGeom>
          <a:solidFill>
            <a:srgbClr val="FFFFFF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 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868454"/>
            <a:ext cx="8723376" cy="53596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52560" y="868454"/>
            <a:ext cx="246888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1900" b="1" dirty="0">
                <a:solidFill>
                  <a:srgbClr val="2F8157"/>
                </a:solidFill>
                <a:latin typeface="Aptos"/>
              </a:rPr>
              <a:t>Power BI</a:t>
            </a:r>
            <a:r>
              <a:rPr sz="1900" b="1" dirty="0">
                <a:solidFill>
                  <a:srgbClr val="2F8157"/>
                </a:solidFill>
                <a:latin typeface="Aptos"/>
              </a:rPr>
              <a:t> dashboard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536192"/>
            <a:ext cx="246888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10K total treatments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33.01% treatment success rate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5.25M direct-treatment amount shown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100% insurance coverage shown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Paid payments: 59.58%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Top provider displayed: INS013 — 689 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475488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2F8157"/>
                </a:solidFill>
                <a:latin typeface="Aptos"/>
              </a:rPr>
              <a:t>Filters support treatment outcome, treatment type, provider and payment status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28816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C6876"/>
                </a:solidFill>
                <a:latin typeface="Aptos"/>
              </a:rPr>
              <a:t>AXON HEALTHCARE  |  Healthcare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86552"/>
            <a:ext cx="4572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0" dirty="0">
                <a:solidFill>
                  <a:srgbClr val="5C6876"/>
                </a:solidFill>
                <a:latin typeface="Aptos"/>
              </a:rPr>
              <a:t>7</a:t>
            </a:r>
            <a:endParaRPr sz="900" b="0" dirty="0">
              <a:solidFill>
                <a:srgbClr val="5C687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F4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17505"/>
            <a:ext cx="107899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2500" b="1" dirty="0">
                <a:solidFill>
                  <a:srgbClr val="FFFFFF"/>
                </a:solidFill>
                <a:latin typeface="Aptos"/>
              </a:rPr>
              <a:t>My</a:t>
            </a:r>
            <a:r>
              <a:rPr sz="2500" b="1" dirty="0">
                <a:solidFill>
                  <a:srgbClr val="FFFFFF"/>
                </a:solidFill>
                <a:latin typeface="Aptos"/>
              </a:rPr>
              <a:t>SQL DATABASE &amp;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FFFFFF"/>
                </a:solidFill>
                <a:latin typeface="Aptos"/>
              </a:rPr>
              <a:t>Relational healthcare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4" y="923544"/>
            <a:ext cx="2816352" cy="4279392"/>
          </a:xfrm>
          <a:prstGeom prst="roundRect">
            <a:avLst/>
          </a:prstGeom>
          <a:solidFill>
            <a:srgbClr val="FFFFFF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274320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300984" y="923544"/>
            <a:ext cx="2816352" cy="2982750"/>
          </a:xfrm>
          <a:prstGeom prst="roundRect">
            <a:avLst/>
          </a:prstGeom>
          <a:solidFill>
            <a:srgbClr val="FFFFFF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image (1)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960120"/>
            <a:ext cx="2743200" cy="290959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27064" y="923544"/>
            <a:ext cx="2816352" cy="1765654"/>
          </a:xfrm>
          <a:prstGeom prst="roundRect">
            <a:avLst/>
          </a:prstGeom>
          <a:solidFill>
            <a:srgbClr val="FFFFFF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0" name="Picture 9" descr="image (5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960120"/>
            <a:ext cx="2743200" cy="169250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53144" y="923544"/>
            <a:ext cx="2633472" cy="2094218"/>
          </a:xfrm>
          <a:prstGeom prst="roundRect">
            <a:avLst/>
          </a:prstGeom>
          <a:solidFill>
            <a:srgbClr val="FFFFFF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2" name="Picture 11" descr="image (3)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960120"/>
            <a:ext cx="2560320" cy="20210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40560" y="5007340"/>
            <a:ext cx="98094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1F4C85"/>
                </a:solidFill>
                <a:latin typeface="Aptos"/>
              </a:rPr>
              <a:t>Department → Doctor → Visit → Treatment / Lab</a:t>
            </a:r>
            <a:r>
              <a:rPr lang="en-IN" sz="1800" b="1" dirty="0">
                <a:solidFill>
                  <a:srgbClr val="1F4C85"/>
                </a:solidFill>
                <a:latin typeface="Aptos"/>
              </a:rPr>
              <a:t> </a:t>
            </a:r>
            <a:r>
              <a:rPr sz="1800" b="1" dirty="0">
                <a:solidFill>
                  <a:srgbClr val="1F4C85"/>
                </a:solidFill>
                <a:latin typeface="Aptos"/>
              </a:rPr>
              <a:t>Result → Billing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358372"/>
            <a:ext cx="103327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Primary keys identify core records.</a:t>
            </a:r>
          </a:p>
          <a:p>
            <a:pPr>
              <a:spcAft>
                <a:spcPts val="8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Foreign keys connect patients, doctors, visits and downstream clinical/financial records.</a:t>
            </a:r>
          </a:p>
          <a:p>
            <a:pPr>
              <a:spcAft>
                <a:spcPts val="8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Patient table includes demographics, insurance, chronic conditions and allergies.</a:t>
            </a:r>
          </a:p>
          <a:p>
            <a:pPr>
              <a:spcAft>
                <a:spcPts val="8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Visit and Treatment tables capture clinical activity and treatment outcomes.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28816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C6876"/>
                </a:solidFill>
                <a:latin typeface="Aptos"/>
              </a:rPr>
              <a:t>AXON HEALTHCARE  |  Healthcare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86552"/>
            <a:ext cx="4572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0" dirty="0">
                <a:solidFill>
                  <a:srgbClr val="5C6876"/>
                </a:solidFill>
                <a:latin typeface="Aptos"/>
              </a:rPr>
              <a:t>8</a:t>
            </a:r>
            <a:endParaRPr sz="900" b="0" dirty="0">
              <a:solidFill>
                <a:srgbClr val="5C687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F4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17505"/>
            <a:ext cx="107899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2500" b="1" dirty="0">
                <a:solidFill>
                  <a:srgbClr val="FFFFFF"/>
                </a:solidFill>
                <a:latin typeface="Aptos"/>
              </a:rPr>
              <a:t>My</a:t>
            </a:r>
            <a:r>
              <a:rPr sz="2500" b="1" dirty="0">
                <a:solidFill>
                  <a:srgbClr val="FFFFFF"/>
                </a:solidFill>
                <a:latin typeface="Aptos"/>
              </a:rPr>
              <a:t>SQL — VALIDATION &amp; SUPPORTING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FFFFFF"/>
                </a:solidFill>
                <a:latin typeface="Aptos"/>
              </a:rPr>
              <a:t>Data checks and operational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4" y="877824"/>
            <a:ext cx="5422392" cy="3124140"/>
          </a:xfrm>
          <a:prstGeom prst="roundRect">
            <a:avLst/>
          </a:prstGeom>
          <a:solidFill>
            <a:srgbClr val="FFFFFF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 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5349240" cy="30509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44184" y="877824"/>
            <a:ext cx="5422392" cy="5746869"/>
          </a:xfrm>
          <a:prstGeom prst="roundRect">
            <a:avLst/>
          </a:prstGeom>
          <a:solidFill>
            <a:srgbClr val="FFFFFF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image (1)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928251"/>
            <a:ext cx="5349240" cy="56737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170777"/>
            <a:ext cx="3967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1F4C85"/>
                </a:solidFill>
                <a:latin typeface="Aptos"/>
              </a:rPr>
              <a:t>Supporting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" y="4617720"/>
            <a:ext cx="597306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Lab</a:t>
            </a:r>
            <a:r>
              <a:rPr lang="en-IN" sz="1400" dirty="0"/>
              <a:t> </a:t>
            </a:r>
            <a:r>
              <a:rPr sz="1400" dirty="0"/>
              <a:t>Result stores test date, test name, result, numeric value, units and reference range.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Billing stores billed amount, insurance covered, patient paid, outstanding amount and payment status.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COUNT(*) queries validate table populations after loading.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• SELECT * queries provide table-level inspection before reporting</a:t>
            </a:r>
            <a:r>
              <a:rPr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28816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C6876"/>
                </a:solidFill>
                <a:latin typeface="Aptos"/>
              </a:rPr>
              <a:t>AXON HEALTHCARE  |  Healthcare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86552"/>
            <a:ext cx="4572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0" dirty="0">
                <a:solidFill>
                  <a:srgbClr val="5C6876"/>
                </a:solidFill>
                <a:latin typeface="Aptos"/>
              </a:rPr>
              <a:t>9</a:t>
            </a:r>
            <a:endParaRPr sz="900" b="0" dirty="0">
              <a:solidFill>
                <a:srgbClr val="5C687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F4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17505"/>
            <a:ext cx="107899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KEY </a:t>
            </a:r>
            <a:r>
              <a:rPr lang="en-IN" sz="2500" b="1" dirty="0">
                <a:solidFill>
                  <a:srgbClr val="FFFFFF"/>
                </a:solidFill>
                <a:latin typeface="Aptos"/>
              </a:rPr>
              <a:t>FINDINGS &amp; RECOMMENDATIONS</a:t>
            </a:r>
            <a:endParaRPr sz="2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48056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FFFFFF"/>
                </a:solidFill>
                <a:latin typeface="Aptos"/>
              </a:rPr>
              <a:t>Final project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5394960" cy="5166360"/>
          </a:xfrm>
          <a:prstGeom prst="roundRect">
            <a:avLst/>
          </a:prstGeom>
          <a:solidFill>
            <a:srgbClr val="EBF5FC"/>
          </a:solidFill>
          <a:ln>
            <a:solidFill>
              <a:srgbClr val="34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1F4C85"/>
                </a:solidFill>
                <a:latin typeface="Aptos"/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47091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10,000 patients and 10,000 visits are displayed in the executive/clinical dashboards.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Completion rate is 32.66%; treatment success rate is 33.01%.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Abnormal and pending lab-test rates are each about one-third.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General Medicine shows the highest displayed department revenue (~$5.51M).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Migraine is the highest-volume diagnosis shown (2,039).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Hypertension has the highest displayed chronic-condition prevalence (20.54%).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960120"/>
            <a:ext cx="5394960" cy="5166360"/>
          </a:xfrm>
          <a:prstGeom prst="roundRect">
            <a:avLst/>
          </a:prstGeom>
          <a:solidFill>
            <a:srgbClr val="E8F7ED"/>
          </a:solidFill>
          <a:ln>
            <a:solidFill>
              <a:srgbClr val="2F8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37960" y="11704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2F8157"/>
                </a:solidFill>
                <a:latin typeface="Aptos"/>
              </a:rP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64208"/>
            <a:ext cx="47091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Improve visit completion and treatment follow-through.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Investigate failed and ongoing treatment cases.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Reduce pending diagnostic-test backlog and prioritize abnormal results.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Monitor department revenue and treatment economics.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Use demographic and condition filters for targeted planning.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rPr dirty="0"/>
              <a:t>• Monitor payment status and insurance-provider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28816"/>
            <a:ext cx="6217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C6876"/>
                </a:solidFill>
                <a:latin typeface="Aptos"/>
              </a:rPr>
              <a:t>AXON HEALTHCARE  |  Healthcare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86552"/>
            <a:ext cx="4572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0">
                <a:solidFill>
                  <a:srgbClr val="5C6876"/>
                </a:solidFill>
                <a:latin typeface="Aptos"/>
              </a:rPr>
              <a:t>1</a:t>
            </a:r>
            <a:r>
              <a:rPr lang="en-IN" sz="900" b="0" dirty="0">
                <a:solidFill>
                  <a:srgbClr val="5C6876"/>
                </a:solidFill>
                <a:latin typeface="Aptos"/>
              </a:rPr>
              <a:t>0</a:t>
            </a:r>
            <a:endParaRPr sz="900" b="0" dirty="0">
              <a:solidFill>
                <a:srgbClr val="5C6876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9144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347EBE"/>
                </a:solidFill>
                <a:latin typeface="Aptos"/>
              </a:rPr>
              <a:t>AXON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716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5C6876"/>
                </a:solidFill>
                <a:latin typeface="Aptos"/>
              </a:rPr>
              <a:t>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43891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 dirty="0">
                <a:solidFill>
                  <a:srgbClr val="1F4C85"/>
                </a:solidFill>
                <a:latin typeface="Aptos"/>
              </a:rPr>
              <a:t>THANK
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2F8157"/>
                </a:solidFill>
                <a:latin typeface="Aptos"/>
              </a:rPr>
              <a:t>Healthcare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84262"/>
            <a:ext cx="56235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232A34"/>
                </a:solidFill>
                <a:latin typeface="Aptos"/>
              </a:rPr>
              <a:t>Arunprasad Rajesh Kounder  •  Samreen Sayed  •  K</a:t>
            </a:r>
            <a:r>
              <a:rPr lang="en-IN" sz="1400" b="0" dirty="0">
                <a:solidFill>
                  <a:srgbClr val="232A34"/>
                </a:solidFill>
                <a:latin typeface="Aptos"/>
              </a:rPr>
              <a:t>arthik Hamilpurkar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F4C85"/>
                </a:solidFill>
                <a:latin typeface="Aptos"/>
              </a:rPr>
              <a:t>Excel  |  Tableau  |  Power BI  |  </a:t>
            </a:r>
            <a:r>
              <a:rPr lang="en-IN" sz="1400" b="1" dirty="0">
                <a:solidFill>
                  <a:srgbClr val="1F4C85"/>
                </a:solidFill>
                <a:latin typeface="Aptos"/>
              </a:rPr>
              <a:t>My</a:t>
            </a:r>
            <a:r>
              <a:rPr sz="1400" b="1" dirty="0">
                <a:solidFill>
                  <a:srgbClr val="1F4C85"/>
                </a:solidFill>
                <a:latin typeface="Aptos"/>
              </a:rPr>
              <a:t>SQL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873C9E-C701-C9F0-6BE0-43B384468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458" y="0"/>
            <a:ext cx="579854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662</Words>
  <Application>Microsoft Office PowerPoint</Application>
  <PresentationFormat>Widescreen</PresentationFormat>
  <Paragraphs>116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Nikhat Sayed</dc:creator>
  <cp:keywords/>
  <dc:description>generated using python-pptx</dc:description>
  <cp:lastModifiedBy>Nikhat Sayed</cp:lastModifiedBy>
  <cp:revision>2</cp:revision>
  <dcterms:created xsi:type="dcterms:W3CDTF">2013-01-27T09:14:16Z</dcterms:created>
  <dcterms:modified xsi:type="dcterms:W3CDTF">2026-08-29T08:22:58Z</dcterms:modified>
  <cp:category/>
</cp:coreProperties>
</file>